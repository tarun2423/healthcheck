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8CEAB3-C0BA-46F3-A451-BC02D8E4513F}" v="36" dt="2026-09-17T12:15:27.0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1596" y="5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run V" userId="ac1973a3ea931974" providerId="LiveId" clId="{65771CB9-B2A3-40E4-B401-43AF208DCF98}"/>
    <pc:docChg chg="undo redo custSel addSld delSld modSld">
      <pc:chgData name="Tarun V" userId="ac1973a3ea931974" providerId="LiveId" clId="{65771CB9-B2A3-40E4-B401-43AF208DCF98}" dt="2026-09-17T12:16:00.526" v="270" actId="108"/>
      <pc:docMkLst>
        <pc:docMk/>
      </pc:docMkLst>
      <pc:sldChg chg="delSp modSp new mod">
        <pc:chgData name="Tarun V" userId="ac1973a3ea931974" providerId="LiveId" clId="{65771CB9-B2A3-40E4-B401-43AF208DCF98}" dt="2026-09-17T12:12:59.385" v="254" actId="207"/>
        <pc:sldMkLst>
          <pc:docMk/>
          <pc:sldMk cId="831506223" sldId="256"/>
        </pc:sldMkLst>
        <pc:spChg chg="mod">
          <ac:chgData name="Tarun V" userId="ac1973a3ea931974" providerId="LiveId" clId="{65771CB9-B2A3-40E4-B401-43AF208DCF98}" dt="2026-09-17T12:12:59.385" v="254" actId="207"/>
          <ac:spMkLst>
            <pc:docMk/>
            <pc:sldMk cId="831506223" sldId="256"/>
            <ac:spMk id="2" creationId="{0EFE0F52-D6DD-945F-5346-0D84F7AC98BF}"/>
          </ac:spMkLst>
        </pc:spChg>
        <pc:spChg chg="del">
          <ac:chgData name="Tarun V" userId="ac1973a3ea931974" providerId="LiveId" clId="{65771CB9-B2A3-40E4-B401-43AF208DCF98}" dt="2026-09-17T11:24:04.283" v="3" actId="478"/>
          <ac:spMkLst>
            <pc:docMk/>
            <pc:sldMk cId="831506223" sldId="256"/>
            <ac:spMk id="3" creationId="{2123375E-A302-8DF7-A792-2779770EE49E}"/>
          </ac:spMkLst>
        </pc:spChg>
      </pc:sldChg>
      <pc:sldChg chg="modSp new mod">
        <pc:chgData name="Tarun V" userId="ac1973a3ea931974" providerId="LiveId" clId="{65771CB9-B2A3-40E4-B401-43AF208DCF98}" dt="2026-09-17T12:13:45.001" v="263" actId="27636"/>
        <pc:sldMkLst>
          <pc:docMk/>
          <pc:sldMk cId="616576446" sldId="257"/>
        </pc:sldMkLst>
        <pc:spChg chg="mod">
          <ac:chgData name="Tarun V" userId="ac1973a3ea931974" providerId="LiveId" clId="{65771CB9-B2A3-40E4-B401-43AF208DCF98}" dt="2026-09-17T12:13:45.001" v="263" actId="27636"/>
          <ac:spMkLst>
            <pc:docMk/>
            <pc:sldMk cId="616576446" sldId="257"/>
            <ac:spMk id="2" creationId="{F9D1FB4F-587C-B1A2-06DA-9F7FBB783C20}"/>
          </ac:spMkLst>
        </pc:spChg>
        <pc:spChg chg="mod">
          <ac:chgData name="Tarun V" userId="ac1973a3ea931974" providerId="LiveId" clId="{65771CB9-B2A3-40E4-B401-43AF208DCF98}" dt="2026-09-17T11:53:37.686" v="220" actId="20577"/>
          <ac:spMkLst>
            <pc:docMk/>
            <pc:sldMk cId="616576446" sldId="257"/>
            <ac:spMk id="3" creationId="{38A904F9-947A-BE3E-EFB8-16E10A6B9D97}"/>
          </ac:spMkLst>
        </pc:spChg>
      </pc:sldChg>
      <pc:sldChg chg="modSp new del mod">
        <pc:chgData name="Tarun V" userId="ac1973a3ea931974" providerId="LiveId" clId="{65771CB9-B2A3-40E4-B401-43AF208DCF98}" dt="2026-09-17T11:52:21.840" v="203" actId="2696"/>
        <pc:sldMkLst>
          <pc:docMk/>
          <pc:sldMk cId="2059569413" sldId="258"/>
        </pc:sldMkLst>
        <pc:spChg chg="mod">
          <ac:chgData name="Tarun V" userId="ac1973a3ea931974" providerId="LiveId" clId="{65771CB9-B2A3-40E4-B401-43AF208DCF98}" dt="2026-09-17T11:43:45.523" v="141" actId="27636"/>
          <ac:spMkLst>
            <pc:docMk/>
            <pc:sldMk cId="2059569413" sldId="258"/>
            <ac:spMk id="2" creationId="{A597325F-5811-34A6-DC7A-F91448893762}"/>
          </ac:spMkLst>
        </pc:spChg>
        <pc:spChg chg="mod">
          <ac:chgData name="Tarun V" userId="ac1973a3ea931974" providerId="LiveId" clId="{65771CB9-B2A3-40E4-B401-43AF208DCF98}" dt="2026-09-17T11:46:33.402" v="156" actId="255"/>
          <ac:spMkLst>
            <pc:docMk/>
            <pc:sldMk cId="2059569413" sldId="258"/>
            <ac:spMk id="3" creationId="{365A9420-A274-10ED-DB6C-9FA16937E7D4}"/>
          </ac:spMkLst>
        </pc:spChg>
      </pc:sldChg>
      <pc:sldChg chg="addSp delSp modSp new mod">
        <pc:chgData name="Tarun V" userId="ac1973a3ea931974" providerId="LiveId" clId="{65771CB9-B2A3-40E4-B401-43AF208DCF98}" dt="2026-09-17T11:57:05.337" v="236" actId="14100"/>
        <pc:sldMkLst>
          <pc:docMk/>
          <pc:sldMk cId="2655853749" sldId="259"/>
        </pc:sldMkLst>
        <pc:spChg chg="del mod">
          <ac:chgData name="Tarun V" userId="ac1973a3ea931974" providerId="LiveId" clId="{65771CB9-B2A3-40E4-B401-43AF208DCF98}" dt="2026-09-17T11:56:50.631" v="229" actId="478"/>
          <ac:spMkLst>
            <pc:docMk/>
            <pc:sldMk cId="2655853749" sldId="259"/>
            <ac:spMk id="2" creationId="{A0D57D83-3410-737B-8BA9-7A8EC9AC0236}"/>
          </ac:spMkLst>
        </pc:spChg>
        <pc:spChg chg="del mod">
          <ac:chgData name="Tarun V" userId="ac1973a3ea931974" providerId="LiveId" clId="{65771CB9-B2A3-40E4-B401-43AF208DCF98}" dt="2026-09-17T11:56:31.471" v="223" actId="931"/>
          <ac:spMkLst>
            <pc:docMk/>
            <pc:sldMk cId="2655853749" sldId="259"/>
            <ac:spMk id="3" creationId="{A5D6C4A1-1541-485D-9ABA-EAA77C81F2E1}"/>
          </ac:spMkLst>
        </pc:spChg>
        <pc:spChg chg="add del mod">
          <ac:chgData name="Tarun V" userId="ac1973a3ea931974" providerId="LiveId" clId="{65771CB9-B2A3-40E4-B401-43AF208DCF98}" dt="2026-09-17T11:56:53.523" v="230" actId="478"/>
          <ac:spMkLst>
            <pc:docMk/>
            <pc:sldMk cId="2655853749" sldId="259"/>
            <ac:spMk id="7" creationId="{5B1E8F8E-9E36-0D34-4883-04603D4F336F}"/>
          </ac:spMkLst>
        </pc:spChg>
        <pc:picChg chg="add mod ord">
          <ac:chgData name="Tarun V" userId="ac1973a3ea931974" providerId="LiveId" clId="{65771CB9-B2A3-40E4-B401-43AF208DCF98}" dt="2026-09-17T11:57:05.337" v="236" actId="14100"/>
          <ac:picMkLst>
            <pc:docMk/>
            <pc:sldMk cId="2655853749" sldId="259"/>
            <ac:picMk id="5" creationId="{F71925CD-08A9-5E4B-ED9B-C97EC0166E65}"/>
          </ac:picMkLst>
        </pc:picChg>
      </pc:sldChg>
      <pc:sldChg chg="modSp new mod">
        <pc:chgData name="Tarun V" userId="ac1973a3ea931974" providerId="LiveId" clId="{65771CB9-B2A3-40E4-B401-43AF208DCF98}" dt="2026-09-17T12:13:36.001" v="261" actId="1076"/>
        <pc:sldMkLst>
          <pc:docMk/>
          <pc:sldMk cId="1293100685" sldId="260"/>
        </pc:sldMkLst>
        <pc:spChg chg="mod">
          <ac:chgData name="Tarun V" userId="ac1973a3ea931974" providerId="LiveId" clId="{65771CB9-B2A3-40E4-B401-43AF208DCF98}" dt="2026-09-17T12:13:33.049" v="260" actId="255"/>
          <ac:spMkLst>
            <pc:docMk/>
            <pc:sldMk cId="1293100685" sldId="260"/>
            <ac:spMk id="2" creationId="{B77C8E34-C071-E05A-1B00-C1E1503F147E}"/>
          </ac:spMkLst>
        </pc:spChg>
        <pc:spChg chg="mod">
          <ac:chgData name="Tarun V" userId="ac1973a3ea931974" providerId="LiveId" clId="{65771CB9-B2A3-40E4-B401-43AF208DCF98}" dt="2026-09-17T12:13:36.001" v="261" actId="1076"/>
          <ac:spMkLst>
            <pc:docMk/>
            <pc:sldMk cId="1293100685" sldId="260"/>
            <ac:spMk id="3" creationId="{3B10FC0A-FB61-824C-6D4B-0C1F9D362F7F}"/>
          </ac:spMkLst>
        </pc:spChg>
      </pc:sldChg>
      <pc:sldChg chg="modSp add mod">
        <pc:chgData name="Tarun V" userId="ac1973a3ea931974" providerId="LiveId" clId="{65771CB9-B2A3-40E4-B401-43AF208DCF98}" dt="2026-09-17T12:13:26.481" v="259" actId="1076"/>
        <pc:sldMkLst>
          <pc:docMk/>
          <pc:sldMk cId="0" sldId="261"/>
        </pc:sldMkLst>
        <pc:spChg chg="mod">
          <ac:chgData name="Tarun V" userId="ac1973a3ea931974" providerId="LiveId" clId="{65771CB9-B2A3-40E4-B401-43AF208DCF98}" dt="2026-09-17T12:13:26.481" v="259" actId="1076"/>
          <ac:spMkLst>
            <pc:docMk/>
            <pc:sldMk cId="0" sldId="261"/>
            <ac:spMk id="2" creationId="{00000000-0000-0000-0000-000000000000}"/>
          </ac:spMkLst>
        </pc:spChg>
      </pc:sldChg>
      <pc:sldChg chg="modSp add del mod">
        <pc:chgData name="Tarun V" userId="ac1973a3ea931974" providerId="LiveId" clId="{65771CB9-B2A3-40E4-B401-43AF208DCF98}" dt="2026-09-17T12:16:00.526" v="270" actId="108"/>
        <pc:sldMkLst>
          <pc:docMk/>
          <pc:sldMk cId="0" sldId="262"/>
        </pc:sldMkLst>
        <pc:spChg chg="mod">
          <ac:chgData name="Tarun V" userId="ac1973a3ea931974" providerId="LiveId" clId="{65771CB9-B2A3-40E4-B401-43AF208DCF98}" dt="2026-09-17T12:16:00.526" v="270" actId="108"/>
          <ac:spMkLst>
            <pc:docMk/>
            <pc:sldMk cId="0" sldId="262"/>
            <ac:spMk id="8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F48AC-7A76-8A73-46C6-9BD8DAFB13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98C2B8-B4D8-59F1-9CBA-4E0B741A40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A9E851-F4F3-1677-8BF4-354736E45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843A0-D766-414C-AA63-2685DD9E541B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73DFA7-3AC9-1FFF-BFF5-3C2CBD492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FAE765-0CC7-3FE2-86B5-D0F3EA719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9F1F2-0206-40CF-BFFC-F1B5C0E363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0040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A56A6-A862-685F-FF87-E98B37151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B122D9-875C-47D5-B44A-D244F6E462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AA0B4D-B011-BBA6-186A-AED023461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843A0-D766-414C-AA63-2685DD9E541B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27295F-D3A6-3FD3-FB0A-8EFE6D02B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49F95-365F-AB58-3E6A-DC2AC5BC6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9F1F2-0206-40CF-BFFC-F1B5C0E363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3130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33BFD-360C-FF63-C53B-F951A72B0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ABBE49-0959-213A-061E-D99C76E800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DA5073-784B-EE2D-D3D8-83A0A1404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843A0-D766-414C-AA63-2685DD9E541B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0019E8-04EE-7533-42E8-97B6D7A68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91392A-A49C-AA9E-44C6-3536E9128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9F1F2-0206-40CF-BFFC-F1B5C0E363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0411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BC976-4B71-1EF7-F1D0-F51DFE884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4FA93-9F4A-4320-ADF9-088FCA8B74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08833A-0F06-FBA4-53AB-EE3F4B1237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81CC2C-CCBB-63D8-750D-AF5BA5340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843A0-D766-414C-AA63-2685DD9E541B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03B173-9764-E58D-DEAD-7125961C3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5A13EA-504A-5472-0376-3EFCB9A85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9F1F2-0206-40CF-BFFC-F1B5C0E363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7146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FCCB6-AC4D-513C-3D15-4326166C0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9E200B-CEEA-9BCF-B87B-C764A9960D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C5B1DD-0F6D-C528-EE05-BE53F3E427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4556B8-33F2-02CC-D2C3-29EB886770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784EDD-D278-9815-D6C0-CB381D7360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1FBA78-1E3D-4978-8FC7-BCCF0E8D6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843A0-D766-414C-AA63-2685DD9E541B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B1AF44-3237-1CA5-52CC-5982BF533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740AE5-5203-E4D9-BC4D-246E14944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9F1F2-0206-40CF-BFFC-F1B5C0E363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7694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497E3-3C9B-5943-9340-6B19D180A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8A3B01-BBEA-1184-639C-8116E9CC9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843A0-D766-414C-AA63-2685DD9E541B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3FD6EF-1EB7-DE18-6E1F-60A6D7263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C78776-8AD2-E250-AA1F-85A471A1D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9F1F2-0206-40CF-BFFC-F1B5C0E363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65620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A8E85C-A5B8-3385-0ADB-93D963557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843A0-D766-414C-AA63-2685DD9E541B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F403BC-76FB-1041-C2A0-623DD971C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0041A6-C93F-5071-DB9B-600A7F5E6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9F1F2-0206-40CF-BFFC-F1B5C0E363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6898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65FF1-4A66-8FCF-768B-427188CF7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3BA450-A755-F09B-72B2-0D65995B6B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8DB737-9EFD-C207-7591-8CCF723CDD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3B1E87-8EC8-2372-8F41-4A2575FB6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843A0-D766-414C-AA63-2685DD9E541B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683A88-EE9F-68CC-4617-097CA6EC3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7DF97F-2003-B521-1CEC-075F2C09A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9F1F2-0206-40CF-BFFC-F1B5C0E363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0552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FC87A-0F39-2936-3050-D8DDB6154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21BDA5-3F46-4A41-22B9-D2BEB63175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72632C-B50B-F57C-E1A3-4017673265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F8BC7B-0359-1C68-7A80-049F82B4C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843A0-D766-414C-AA63-2685DD9E541B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A4176A-BF8F-F310-8B9D-C7AAD5460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178788-5725-D34E-6544-B172DA4C3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9F1F2-0206-40CF-BFFC-F1B5C0E363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7099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F83B4-8FA9-61EA-9F26-9747FF8F8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B7B88B-263D-6C80-BE73-BD5C790EEE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43FDD7-4DB7-D068-73E6-B761FFDC9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843A0-D766-414C-AA63-2685DD9E541B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E74844-1CE0-782E-FF44-1CFD6DBFD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1B6F9E-320F-5091-DE09-C1CA95ADD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9F1F2-0206-40CF-BFFC-F1B5C0E363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0972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751E3D-DE60-5411-E3A5-9A11D4650E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BD49F7-6F08-A7EF-D17C-77E1403A6C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7C2D64-E3B5-2002-9F2F-B54D01C9A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843A0-D766-414C-AA63-2685DD9E541B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945730-C5A4-DB8B-7348-0605C850B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EEEDCD-A560-5E61-9608-DA35B55EE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9F1F2-0206-40CF-BFFC-F1B5C0E363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8136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53D374-155A-04F1-2E2F-6F2B66EC8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523E40-86AF-8C3E-28FE-20D15D219D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836C7A-2C6B-B10C-F984-0CDBDF5AE7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4843A0-D766-414C-AA63-2685DD9E541B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F41CDF-CBCB-E8DB-B766-BEC1393AE7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4BE802-3574-3880-0ADC-6C8F91DB60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09F1F2-0206-40CF-BFFC-F1B5C0E363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4954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E0F52-D6DD-945F-5346-0D84F7AC98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0051" y="422787"/>
            <a:ext cx="11611897" cy="5657973"/>
          </a:xfrm>
        </p:spPr>
        <p:txBody>
          <a:bodyPr>
            <a:normAutofit/>
          </a:bodyPr>
          <a:lstStyle/>
          <a:p>
            <a:pPr algn="l">
              <a:lnSpc>
                <a:spcPct val="200000"/>
              </a:lnSpc>
            </a:pPr>
            <a:r>
              <a:rPr lang="en-IN" sz="4800" b="1" dirty="0">
                <a:solidFill>
                  <a:schemeClr val="tx2"/>
                </a:solidFill>
              </a:rPr>
              <a:t>AI-Powered Validation Rule Generation</a:t>
            </a:r>
            <a:br>
              <a:rPr lang="en-IN" b="1" dirty="0"/>
            </a:br>
            <a:r>
              <a:rPr lang="en-IN" sz="3600" b="1" dirty="0"/>
              <a:t>From Natural Language to Structured Validation Rules</a:t>
            </a:r>
            <a:br>
              <a:rPr lang="en-IN" b="1" dirty="0"/>
            </a:br>
            <a:r>
              <a:rPr lang="en-IN" sz="2400" b="1" dirty="0"/>
              <a:t>POC using Local LLM Inference</a:t>
            </a:r>
            <a:br>
              <a:rPr lang="en-IN" dirty="0"/>
            </a:b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Java • Spring Boot • Spring AI • </a:t>
            </a:r>
            <a:r>
              <a:rPr lang="en-IN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Ollama</a:t>
            </a: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 • Qwen3 • PostgreSQL</a:t>
            </a:r>
            <a:br>
              <a:rPr lang="en-IN" dirty="0"/>
            </a:br>
            <a:endParaRPr lang="en-IN" sz="4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15062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1FB4F-587C-B1A2-06DA-9F7FBB783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6425"/>
          </a:xfrm>
        </p:spPr>
        <p:txBody>
          <a:bodyPr>
            <a:normAutofit/>
          </a:bodyPr>
          <a:lstStyle/>
          <a:p>
            <a:r>
              <a:rPr lang="en-IN" sz="2800" dirty="0">
                <a:solidFill>
                  <a:schemeClr val="tx2"/>
                </a:solidFill>
              </a:rPr>
              <a:t>Problem Statement &amp;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A904F9-947A-BE3E-EFB8-16E10A6B9D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8730"/>
            <a:ext cx="10515600" cy="5113973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IN" sz="1800" b="1" dirty="0"/>
              <a:t>Problem Statement</a:t>
            </a:r>
            <a:endParaRPr lang="en-IN" sz="1800" b="1" dirty="0">
              <a:cs typeface="Arial" panose="020B0604020202020204" pitchFamily="34" charset="0"/>
            </a:endParaRPr>
          </a:p>
          <a:p>
            <a:pPr lvl="0"/>
            <a:r>
              <a:rPr lang="en-IN" sz="1600" dirty="0">
                <a:cs typeface="Arial" panose="020B0604020202020204" pitchFamily="34" charset="0"/>
              </a:rPr>
              <a:t>Existing validation rules primarily support </a:t>
            </a:r>
            <a:r>
              <a:rPr lang="en-IN" sz="1600" b="1" dirty="0">
                <a:cs typeface="Arial" panose="020B0604020202020204" pitchFamily="34" charset="0"/>
              </a:rPr>
              <a:t>Primary and Secondary conditions</a:t>
            </a:r>
            <a:endParaRPr lang="en-IN" sz="1600" dirty="0">
              <a:cs typeface="Arial" panose="020B0604020202020204" pitchFamily="34" charset="0"/>
            </a:endParaRPr>
          </a:p>
          <a:p>
            <a:pPr lvl="0"/>
            <a:r>
              <a:rPr lang="en-IN" sz="1600" dirty="0">
                <a:cs typeface="Arial" panose="020B0604020202020204" pitchFamily="34" charset="0"/>
              </a:rPr>
              <a:t>Complex business requirements can involve multiple conditions and logical combinations</a:t>
            </a:r>
          </a:p>
          <a:p>
            <a:pPr lvl="0"/>
            <a:r>
              <a:rPr lang="en-IN" sz="1600" dirty="0">
                <a:cs typeface="Arial" panose="020B0604020202020204" pitchFamily="34" charset="0"/>
              </a:rPr>
              <a:t>Representing these requirements manually becomes difficult as complexity increases</a:t>
            </a:r>
          </a:p>
          <a:p>
            <a:pPr lvl="0"/>
            <a:r>
              <a:rPr lang="en-IN" sz="1600" dirty="0">
                <a:cs typeface="Arial" panose="020B0604020202020204" pitchFamily="34" charset="0"/>
              </a:rPr>
              <a:t>Converting natural-language requirements into technical rule structures requires manual effort</a:t>
            </a:r>
          </a:p>
          <a:p>
            <a:pPr marL="0" indent="0">
              <a:buNone/>
            </a:pPr>
            <a:r>
              <a:rPr lang="en-IN" sz="1400" b="1" i="1" dirty="0"/>
              <a:t>			Natural Language</a:t>
            </a:r>
            <a:r>
              <a:rPr lang="en-IN" sz="1400" i="1" dirty="0"/>
              <a:t> → </a:t>
            </a:r>
            <a:r>
              <a:rPr lang="en-IN" sz="1400" dirty="0"/>
              <a:t>🤖</a:t>
            </a:r>
            <a:r>
              <a:rPr lang="en-IN" sz="1400" i="1" dirty="0"/>
              <a:t> </a:t>
            </a:r>
            <a:r>
              <a:rPr lang="en-IN" sz="1400" b="1" i="1" dirty="0"/>
              <a:t>AI</a:t>
            </a:r>
            <a:r>
              <a:rPr lang="en-IN" sz="1400" i="1" dirty="0"/>
              <a:t> → </a:t>
            </a:r>
            <a:r>
              <a:rPr lang="en-IN" sz="1400" b="1" i="1" dirty="0"/>
              <a:t>Validation Rule</a:t>
            </a:r>
            <a:endParaRPr lang="en-IN" sz="1400" b="1" i="1" dirty="0"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IN" sz="1800" b="1" dirty="0"/>
              <a:t>Objective</a:t>
            </a:r>
          </a:p>
          <a:p>
            <a:pPr lvl="0"/>
            <a:r>
              <a:rPr lang="en-IN" sz="1600" dirty="0"/>
              <a:t>Convert </a:t>
            </a:r>
            <a:r>
              <a:rPr lang="en-IN" sz="1600" b="1" dirty="0"/>
              <a:t>natural-language requirements</a:t>
            </a:r>
            <a:r>
              <a:rPr lang="en-IN" sz="1600" dirty="0"/>
              <a:t> into structured validation rules</a:t>
            </a:r>
          </a:p>
          <a:p>
            <a:pPr lvl="0"/>
            <a:r>
              <a:rPr lang="en-IN" sz="1600" dirty="0"/>
              <a:t>Support </a:t>
            </a:r>
            <a:r>
              <a:rPr lang="en-IN" sz="1600" b="1" dirty="0"/>
              <a:t>AND, OR and XOR</a:t>
            </a:r>
            <a:r>
              <a:rPr lang="en-IN" sz="1600" dirty="0"/>
              <a:t> combinations, including nested conditions</a:t>
            </a:r>
          </a:p>
          <a:p>
            <a:pPr lvl="0"/>
            <a:r>
              <a:rPr lang="en-IN" sz="1600" dirty="0"/>
              <a:t>Reduce manual effort in rule creation</a:t>
            </a:r>
          </a:p>
          <a:p>
            <a:pPr lvl="0"/>
            <a:r>
              <a:rPr lang="en-IN" sz="1600" dirty="0"/>
              <a:t>Validate and review the generated rule before it is added to the system</a:t>
            </a:r>
          </a:p>
          <a:p>
            <a:pPr marL="0" indent="0">
              <a:buNone/>
            </a:pPr>
            <a:endParaRPr lang="en-IN" sz="1800" b="1" dirty="0"/>
          </a:p>
          <a:p>
            <a:pPr marL="0" indent="0">
              <a:buNone/>
            </a:pPr>
            <a:r>
              <a:rPr lang="en-IN" sz="1800" b="1" dirty="0"/>
              <a:t>Goal</a:t>
            </a:r>
          </a:p>
          <a:p>
            <a:r>
              <a:rPr lang="en-IN" sz="1600" b="1" dirty="0"/>
              <a:t>Simplify complex rule creation while keeping the process controlled and reviewable.</a:t>
            </a:r>
            <a:endParaRPr lang="en-IN" sz="1600" dirty="0"/>
          </a:p>
          <a:p>
            <a:endParaRPr lang="en-IN" sz="2000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65764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71925CD-08A9-5E4B-ED9B-C97EC0166E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930" y="468154"/>
            <a:ext cx="10732769" cy="5966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8537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C8E34-C071-E05A-1B00-C1E1503F1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>
                <a:solidFill>
                  <a:schemeClr val="tx2"/>
                </a:solidFill>
              </a:rPr>
              <a:t>Complex Rule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10FC0A-FB61-824C-6D4B-0C1F9D362F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2735"/>
            <a:ext cx="10515600" cy="4351338"/>
          </a:xfrm>
        </p:spPr>
        <p:txBody>
          <a:bodyPr/>
          <a:lstStyle/>
          <a:p>
            <a:pPr marL="0" indent="0">
              <a:spcAft>
                <a:spcPts val="1200"/>
              </a:spcAft>
              <a:buNone/>
              <a:defRPr sz="1700"/>
            </a:pPr>
            <a:r>
              <a:rPr lang="en-US" sz="1800" b="1" dirty="0"/>
              <a:t>Requirement:</a:t>
            </a:r>
          </a:p>
          <a:p>
            <a:pPr lvl="1">
              <a:spcAft>
                <a:spcPts val="600"/>
              </a:spcAft>
              <a:defRPr sz="1500"/>
            </a:pPr>
            <a:r>
              <a:rPr lang="en-US" sz="1600" dirty="0"/>
              <a:t>For EUR payments, the creditor name must be present, and either the creditor country must be France or the creditor agent BIC must start with ABC, but not both.</a:t>
            </a:r>
          </a:p>
          <a:p>
            <a:pPr marL="0" indent="0">
              <a:spcAft>
                <a:spcPts val="1200"/>
              </a:spcAft>
              <a:buNone/>
              <a:defRPr sz="1700"/>
            </a:pPr>
            <a:r>
              <a:rPr lang="en-US" sz="1800" b="1" dirty="0"/>
              <a:t>Structured representation:</a:t>
            </a:r>
            <a:endParaRPr lang="en-IN" sz="1800" b="1" dirty="0"/>
          </a:p>
          <a:p>
            <a:pPr marL="0" indent="0">
              <a:spcAft>
                <a:spcPts val="200"/>
              </a:spcAft>
              <a:buNone/>
              <a:defRPr sz="1800">
                <a:latin typeface="Consolas"/>
              </a:defRPr>
            </a:pPr>
            <a:r>
              <a:rPr lang="en-IN" dirty="0"/>
              <a:t>AND</a:t>
            </a:r>
          </a:p>
          <a:p>
            <a:pPr>
              <a:spcAft>
                <a:spcPts val="200"/>
              </a:spcAft>
              <a:defRPr sz="1800">
                <a:latin typeface="Consolas"/>
              </a:defRPr>
            </a:pPr>
            <a:r>
              <a:rPr lang="en-IN" dirty="0"/>
              <a:t>├── </a:t>
            </a:r>
            <a:r>
              <a:rPr lang="en-IN" dirty="0" err="1"/>
              <a:t>transactionCurrency</a:t>
            </a:r>
            <a:r>
              <a:rPr lang="en-IN" dirty="0"/>
              <a:t> == EUR</a:t>
            </a:r>
          </a:p>
          <a:p>
            <a:pPr>
              <a:spcAft>
                <a:spcPts val="200"/>
              </a:spcAft>
              <a:defRPr sz="1800">
                <a:latin typeface="Consolas"/>
              </a:defRPr>
            </a:pPr>
            <a:r>
              <a:rPr lang="en-IN" dirty="0"/>
              <a:t>├── XOR</a:t>
            </a:r>
          </a:p>
          <a:p>
            <a:pPr>
              <a:spcAft>
                <a:spcPts val="200"/>
              </a:spcAft>
              <a:defRPr sz="1800">
                <a:latin typeface="Consolas"/>
              </a:defRPr>
            </a:pPr>
            <a:r>
              <a:rPr lang="en-IN" dirty="0"/>
              <a:t>│   ├── </a:t>
            </a:r>
            <a:r>
              <a:rPr lang="en-IN" dirty="0" err="1"/>
              <a:t>creditor.postalAddress.country</a:t>
            </a:r>
            <a:r>
              <a:rPr lang="en-IN" dirty="0"/>
              <a:t> == FRA</a:t>
            </a:r>
          </a:p>
          <a:p>
            <a:pPr>
              <a:spcAft>
                <a:spcPts val="200"/>
              </a:spcAft>
              <a:defRPr sz="1800">
                <a:latin typeface="Consolas"/>
              </a:defRPr>
            </a:pPr>
            <a:r>
              <a:rPr lang="en-IN" dirty="0"/>
              <a:t>│   └── </a:t>
            </a:r>
            <a:r>
              <a:rPr lang="en-IN" dirty="0" err="1"/>
              <a:t>creditorAgent.bic</a:t>
            </a:r>
            <a:r>
              <a:rPr lang="en-IN" dirty="0"/>
              <a:t> STARTS_WITH ABC</a:t>
            </a:r>
          </a:p>
          <a:p>
            <a:pPr>
              <a:spcAft>
                <a:spcPts val="200"/>
              </a:spcAft>
              <a:defRPr sz="1800">
                <a:latin typeface="Consolas"/>
              </a:defRPr>
            </a:pPr>
            <a:r>
              <a:rPr lang="en-IN" dirty="0"/>
              <a:t>└── creditor.name PRESENT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31006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70916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16305C"/>
                </a:solidFill>
                <a:latin typeface="Aptos Display"/>
              </a:rPr>
              <a:t>Validation &amp; Human Approval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371600"/>
            <a:ext cx="5303520" cy="4480560"/>
          </a:xfrm>
          <a:prstGeom prst="roundRect">
            <a:avLst/>
          </a:prstGeom>
          <a:solidFill>
            <a:srgbClr val="EBF5FF"/>
          </a:solidFill>
          <a:ln w="15240">
            <a:solidFill>
              <a:srgbClr val="3A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16305C"/>
                </a:solidFill>
                <a:latin typeface="Aptos"/>
              </a:rPr>
              <a:t>Application Validation</a:t>
            </a:r>
          </a:p>
          <a:p>
            <a:r>
              <a:rPr sz="1700">
                <a:solidFill>
                  <a:srgbClr val="2D3748"/>
                </a:solidFill>
                <a:latin typeface="Aptos"/>
              </a:rPr>
              <a:t>The backend validates the AI-generated rule against:
• Supported fields
• Supported operators
• Logical structure
• Required values and conditions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63640" y="1371600"/>
            <a:ext cx="5303520" cy="4480560"/>
          </a:xfrm>
          <a:prstGeom prst="roundRect">
            <a:avLst/>
          </a:prstGeom>
          <a:solidFill>
            <a:srgbClr val="FFF7E5"/>
          </a:solidFill>
          <a:ln w="15240">
            <a:solidFill>
              <a:srgbClr val="E291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16305C"/>
                </a:solidFill>
                <a:latin typeface="Aptos"/>
              </a:rPr>
              <a:t>Human Review &amp; Approval</a:t>
            </a:r>
          </a:p>
          <a:p>
            <a:r>
              <a:rPr sz="1700">
                <a:solidFill>
                  <a:srgbClr val="2D3748"/>
                </a:solidFill>
                <a:latin typeface="Aptos"/>
              </a:rPr>
              <a:t>The generated rule is shown to the user before persistence.
The user can:
• Review the generated rule
• Regenerate if required
• Approve the rule
Only approved rules are stored.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25880" y="5989320"/>
            <a:ext cx="9555480" cy="438912"/>
          </a:xfrm>
          <a:prstGeom prst="roundRect">
            <a:avLst/>
          </a:prstGeom>
          <a:solidFill>
            <a:srgbClr val="F4EFFF"/>
          </a:solidFill>
          <a:ln>
            <a:solidFill>
              <a:srgbClr val="694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6305C"/>
                </a:solidFill>
                <a:latin typeface="Aptos"/>
              </a:rPr>
              <a:t>AI-generated ≠ automatically published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9672"/>
            <a:ext cx="11155680" cy="18288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5624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7382"/>
                </a:solidFill>
                <a:latin typeface="Aptos"/>
              </a:rPr>
              <a:t>AI-Powered Validation Rule Generation — POC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305C"/>
                </a:solidFill>
                <a:latin typeface="Aptos Display"/>
              </a:rPr>
              <a:t>Technology Stack &amp; Production Considerations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234440"/>
            <a:ext cx="2743200" cy="1965960"/>
          </a:xfrm>
          <a:prstGeom prst="roundRect">
            <a:avLst/>
          </a:prstGeom>
          <a:solidFill>
            <a:srgbClr val="EBF5FF"/>
          </a:solidFill>
          <a:ln w="15240">
            <a:solidFill>
              <a:srgbClr val="3A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16305C"/>
                </a:solidFill>
                <a:latin typeface="Aptos"/>
              </a:rPr>
              <a:t>Frontend</a:t>
            </a:r>
          </a:p>
          <a:p>
            <a:r>
              <a:rPr sz="1800">
                <a:solidFill>
                  <a:srgbClr val="2D3748"/>
                </a:solidFill>
                <a:latin typeface="Aptos"/>
              </a:rPr>
              <a:t>React
Vite
CSS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56432" y="1234440"/>
            <a:ext cx="2743200" cy="1965960"/>
          </a:xfrm>
          <a:prstGeom prst="roundRect">
            <a:avLst/>
          </a:prstGeom>
          <a:solidFill>
            <a:srgbClr val="EBFAF4"/>
          </a:solidFill>
          <a:ln w="15240">
            <a:solidFill>
              <a:srgbClr val="1F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16305C"/>
                </a:solidFill>
                <a:latin typeface="Aptos"/>
              </a:rPr>
              <a:t>Backend</a:t>
            </a:r>
          </a:p>
          <a:p>
            <a:r>
              <a:rPr sz="1800">
                <a:solidFill>
                  <a:srgbClr val="2D3748"/>
                </a:solidFill>
                <a:latin typeface="Aptos"/>
              </a:rPr>
              <a:t>Java
Spring Boot
REST / JPA / Hibernate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9944" y="1234440"/>
            <a:ext cx="2560320" cy="1965960"/>
          </a:xfrm>
          <a:prstGeom prst="roundRect">
            <a:avLst/>
          </a:prstGeom>
          <a:solidFill>
            <a:srgbClr val="F4EFFF"/>
          </a:solidFill>
          <a:ln w="15240">
            <a:solidFill>
              <a:srgbClr val="694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16305C"/>
                </a:solidFill>
                <a:latin typeface="Aptos"/>
              </a:rPr>
              <a:t>AI</a:t>
            </a:r>
          </a:p>
          <a:p>
            <a:r>
              <a:rPr sz="1800">
                <a:solidFill>
                  <a:srgbClr val="2D3748"/>
                </a:solidFill>
                <a:latin typeface="Aptos"/>
              </a:rPr>
              <a:t>Spring AI
Ollama
Qwen3 8B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80576" y="1234440"/>
            <a:ext cx="2514600" cy="1965960"/>
          </a:xfrm>
          <a:prstGeom prst="roundRect">
            <a:avLst/>
          </a:prstGeom>
          <a:solidFill>
            <a:srgbClr val="FFF7E5"/>
          </a:solidFill>
          <a:ln w="15240">
            <a:solidFill>
              <a:srgbClr val="E291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16305C"/>
                </a:solidFill>
                <a:latin typeface="Aptos"/>
              </a:rPr>
              <a:t>Database</a:t>
            </a:r>
          </a:p>
          <a:p>
            <a:r>
              <a:rPr sz="1800">
                <a:solidFill>
                  <a:srgbClr val="2D3748"/>
                </a:solidFill>
                <a:latin typeface="Aptos"/>
              </a:rPr>
              <a:t>PostgreSQL
JSONB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520440"/>
            <a:ext cx="5349240" cy="2331720"/>
          </a:xfrm>
          <a:prstGeom prst="roundRect">
            <a:avLst/>
          </a:prstGeom>
          <a:solidFill>
            <a:srgbClr val="EBF5FF"/>
          </a:solidFill>
          <a:ln w="15240">
            <a:solidFill>
              <a:srgbClr val="3A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16305C"/>
                </a:solidFill>
                <a:latin typeface="Aptos"/>
              </a:rPr>
              <a:t>POC Setup</a:t>
            </a:r>
          </a:p>
          <a:p>
            <a:r>
              <a:rPr sz="1600">
                <a:solidFill>
                  <a:srgbClr val="2D3748"/>
                </a:solidFill>
                <a:latin typeface="Aptos"/>
              </a:rPr>
              <a:t>• Qwen3 runs locally through Ollama
• Rule-generation requests do not need to be sent to a public external LLM API during local inference
• POC is optimized for demonstration, not production scale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520440"/>
            <a:ext cx="5349240" cy="2331720"/>
          </a:xfrm>
          <a:prstGeom prst="roundRect">
            <a:avLst/>
          </a:prstGeom>
          <a:solidFill>
            <a:srgbClr val="EBFAF4"/>
          </a:solidFill>
          <a:ln w="15240">
            <a:solidFill>
              <a:srgbClr val="1F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>
              <a:spcAft>
                <a:spcPts val="800"/>
              </a:spcAft>
            </a:pPr>
            <a:r>
              <a:rPr sz="1800" b="1" dirty="0">
                <a:solidFill>
                  <a:srgbClr val="16305C"/>
                </a:solidFill>
                <a:latin typeface="Aptos"/>
              </a:rPr>
              <a:t>Production Considerations</a:t>
            </a:r>
          </a:p>
          <a:p>
            <a:r>
              <a:rPr sz="1600" dirty="0">
                <a:solidFill>
                  <a:srgbClr val="2D3748"/>
                </a:solidFill>
                <a:latin typeface="Aptos"/>
              </a:rPr>
              <a:t>• </a:t>
            </a:r>
            <a:r>
              <a:rPr lang="en-US" sz="1600" dirty="0">
                <a:solidFill>
                  <a:srgbClr val="2D3748"/>
                </a:solidFill>
                <a:latin typeface="Aptos"/>
              </a:rPr>
              <a:t>company-managed GPU server/VM with an approved model and inference runtime, an internal AI platform/API, or an approved managed AI service.</a:t>
            </a:r>
            <a:r>
              <a:rPr sz="1600" dirty="0">
                <a:solidFill>
                  <a:srgbClr val="2D3748"/>
                </a:solidFill>
                <a:latin typeface="Aptos"/>
              </a:rPr>
              <a:t>
• Review security, data residency, model governance and licensing
• Evaluate latency, concurrency, scalability, monitoring and availability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519672"/>
            <a:ext cx="11155680" cy="18288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0352" y="655624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7382"/>
                </a:solidFill>
                <a:latin typeface="Aptos"/>
              </a:rPr>
              <a:t>AI-Powered Validation Rule Generation — POC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430</Words>
  <Application>Microsoft Office PowerPoint</Application>
  <PresentationFormat>Widescreen</PresentationFormat>
  <Paragraphs>47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AI-Powered Validation Rule Generation From Natural Language to Structured Validation Rules POC using Local LLM Inference Java • Spring Boot • Spring AI • Ollama • Qwen3 • PostgreSQL </vt:lpstr>
      <vt:lpstr>Problem Statement &amp; Objective</vt:lpstr>
      <vt:lpstr>PowerPoint Presentation</vt:lpstr>
      <vt:lpstr>Complex Rule Example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Tarun V</dc:creator>
  <cp:lastModifiedBy>Tarun V</cp:lastModifiedBy>
  <cp:revision>1</cp:revision>
  <dcterms:created xsi:type="dcterms:W3CDTF">2026-09-17T11:23:50Z</dcterms:created>
  <dcterms:modified xsi:type="dcterms:W3CDTF">2026-09-17T12:16:11Z</dcterms:modified>
</cp:coreProperties>
</file>