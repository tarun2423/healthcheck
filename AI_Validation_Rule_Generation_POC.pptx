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05C"/>
                </a:solidFill>
                <a:latin typeface="Aptos Display"/>
              </a:rPr>
              <a:t>AI-Powered Validation Rule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4231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3A78BE"/>
                </a:solidFill>
                <a:latin typeface="Aptos"/>
              </a:rPr>
              <a:t>From Natural Language to Structured Validation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337560"/>
            <a:ext cx="4114800" cy="594360"/>
          </a:xfrm>
          <a:prstGeom prst="roundRect">
            <a:avLst/>
          </a:prstGeom>
          <a:solidFill>
            <a:srgbClr val="EBF5FF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POC using Local LLM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4709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7382"/>
                </a:solidFill>
                <a:latin typeface="Aptos"/>
              </a:rPr>
              <a:t>Java • Spring Boot • Spring AI • Ollama • Qwen3 •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Problem Statement &amp;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5394960" cy="44805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Problem Statement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• Existing validation primarily supports Primary and Secondary conditions
• Complex requirements may involve multiple conditions and logical combinations
• Translating such requirements into technical rules can require significant manual effort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34440"/>
            <a:ext cx="5394960" cy="448056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Objective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• Convert natural-language requirements into structured validation rules
• Support AND, OR and XOR combinations, including nested conditions
• Reduce manual effort in rule creation
• Validate and review the generated rule before it is added to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5833872"/>
            <a:ext cx="9052560" cy="475488"/>
          </a:xfrm>
          <a:prstGeom prst="roundRect">
            <a:avLst/>
          </a:prstGeom>
          <a:solidFill>
            <a:srgbClr val="F4EFFF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05C"/>
                </a:solidFill>
                <a:latin typeface="Aptos"/>
              </a:rPr>
              <a:t>Goal: Simplify complex rule creation while keeping the process controlled and reviewable.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382"/>
                </a:solidFill>
                <a:latin typeface="Aptos"/>
              </a:rPr>
              <a:t>End-to-end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828800"/>
            <a:ext cx="1810512" cy="33832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Natural Language
Requirement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Business requirement entered in plain language.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517904"/>
            <a:ext cx="640080" cy="640080"/>
          </a:xfrm>
          <a:prstGeom prst="ellipse">
            <a:avLst/>
          </a:prstGeom>
          <a:solidFill>
            <a:srgbClr val="3A78BE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3401568"/>
            <a:ext cx="219456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04288" y="1828800"/>
            <a:ext cx="1810512" cy="338328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Qwen3 8B
AI Generation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Converts the requirement into a structured rule.</a:t>
            </a:r>
          </a:p>
        </p:txBody>
      </p:sp>
      <p:sp>
        <p:nvSpPr>
          <p:cNvPr id="8" name="Oval 7"/>
          <p:cNvSpPr/>
          <p:nvPr/>
        </p:nvSpPr>
        <p:spPr>
          <a:xfrm>
            <a:off x="2871216" y="1517904"/>
            <a:ext cx="640080" cy="640080"/>
          </a:xfrm>
          <a:prstGeom prst="ellipse">
            <a:avLst/>
          </a:prstGeom>
          <a:solidFill>
            <a:srgbClr val="694BBE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05656" y="3401568"/>
            <a:ext cx="219456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1810512" cy="338328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Structured
Rule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Machine-readable representation of the rule.</a:t>
            </a:r>
          </a:p>
        </p:txBody>
      </p:sp>
      <p:sp>
        <p:nvSpPr>
          <p:cNvPr id="11" name="Oval 10"/>
          <p:cNvSpPr/>
          <p:nvPr/>
        </p:nvSpPr>
        <p:spPr>
          <a:xfrm>
            <a:off x="4828032" y="1517904"/>
            <a:ext cx="640080" cy="640080"/>
          </a:xfrm>
          <a:prstGeom prst="ellipse">
            <a:avLst/>
          </a:prstGeom>
          <a:solidFill>
            <a:srgbClr val="1F9169"/>
          </a:solidFill>
          <a:ln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62472" y="3401568"/>
            <a:ext cx="219456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1810512" cy="33832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Java Rule
Validation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Checks structure, fields, operators and logic.</a:t>
            </a:r>
          </a:p>
        </p:txBody>
      </p:sp>
      <p:sp>
        <p:nvSpPr>
          <p:cNvPr id="14" name="Oval 13"/>
          <p:cNvSpPr/>
          <p:nvPr/>
        </p:nvSpPr>
        <p:spPr>
          <a:xfrm>
            <a:off x="6784848" y="1517904"/>
            <a:ext cx="640080" cy="640080"/>
          </a:xfrm>
          <a:prstGeom prst="ellipse">
            <a:avLst/>
          </a:prstGeom>
          <a:solidFill>
            <a:srgbClr val="3A78BE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19288" y="3401568"/>
            <a:ext cx="219456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828800"/>
            <a:ext cx="1810512" cy="3383280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Human Review
&amp; Approval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User reviews and approves before persistence.</a:t>
            </a:r>
          </a:p>
        </p:txBody>
      </p:sp>
      <p:sp>
        <p:nvSpPr>
          <p:cNvPr id="17" name="Oval 16"/>
          <p:cNvSpPr/>
          <p:nvPr/>
        </p:nvSpPr>
        <p:spPr>
          <a:xfrm>
            <a:off x="8741664" y="1517904"/>
            <a:ext cx="640080" cy="640080"/>
          </a:xfrm>
          <a:prstGeom prst="ellipse">
            <a:avLst/>
          </a:prstGeom>
          <a:solidFill>
            <a:srgbClr val="E29114"/>
          </a:solidFill>
          <a:ln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976104" y="3401568"/>
            <a:ext cx="219456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31552" y="1828800"/>
            <a:ext cx="1810512" cy="338328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28600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PostgreSQL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Approved rule is stored using JSONB.</a:t>
            </a:r>
          </a:p>
        </p:txBody>
      </p:sp>
      <p:sp>
        <p:nvSpPr>
          <p:cNvPr id="20" name="Oval 19"/>
          <p:cNvSpPr/>
          <p:nvPr/>
        </p:nvSpPr>
        <p:spPr>
          <a:xfrm>
            <a:off x="10698480" y="1517904"/>
            <a:ext cx="640080" cy="640080"/>
          </a:xfrm>
          <a:prstGeom prst="ellipse">
            <a:avLst/>
          </a:prstGeom>
          <a:solidFill>
            <a:srgbClr val="694BBE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623560"/>
            <a:ext cx="9966960" cy="566928"/>
          </a:xfrm>
          <a:prstGeom prst="roundRect">
            <a:avLst/>
          </a:prstGeom>
          <a:solidFill>
            <a:srgbClr val="EBF5FF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6305C"/>
                </a:solidFill>
                <a:latin typeface="Aptos"/>
              </a:rPr>
              <a:t>AI generates → Application validates → User approves → Rule is stored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Complex Rule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382"/>
                </a:solidFill>
                <a:latin typeface="Aptos"/>
              </a:rPr>
              <a:t>Business requirement → structured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937760" cy="45262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Business Requirement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For EUR payments, the creditor name must be present, and either the creditor country must be France or the creditor agent BIC must start with ABC, but not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325880"/>
            <a:ext cx="5760720" cy="4526280"/>
          </a:xfrm>
          <a:prstGeom prst="roundRect">
            <a:avLst/>
          </a:prstGeom>
          <a:solidFill>
            <a:srgbClr val="EBFAF4"/>
          </a:solidFill>
          <a:ln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900" b="1">
                <a:solidFill>
                  <a:srgbClr val="16305C"/>
                </a:solidFill>
                <a:latin typeface="Aptos"/>
              </a:rPr>
              <a:t>Generated Structured Rule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2D3748"/>
                </a:solidFill>
                <a:latin typeface="Consolas"/>
              </a:rPr>
              <a:t>AND
├── transactionCurrency == EUR
├── XOR
│   ├── creditor.postalAddress.country == FRA
│   └── creditorAgent.bic STARTS_WITH ABC
└── creditor.name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97382"/>
                </a:solidFill>
                <a:latin typeface="Aptos"/>
              </a:rPr>
              <a:t>The structured representation preserves the business logic, including nested AND/XOR conditions.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Validation &amp; Human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5303520" cy="44805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Application Validation</a:t>
            </a:r>
          </a:p>
          <a:p>
            <a:r>
              <a:rPr sz="1700">
                <a:solidFill>
                  <a:srgbClr val="2D3748"/>
                </a:solidFill>
                <a:latin typeface="Aptos"/>
              </a:rPr>
              <a:t>The backend validates the AI-generated rule against:
• Supported fields
• Supported operators
• Logical structure
• Required values and conditions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371600"/>
            <a:ext cx="5303520" cy="4480560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Human Review &amp; Approval</a:t>
            </a:r>
          </a:p>
          <a:p>
            <a:r>
              <a:rPr sz="1700">
                <a:solidFill>
                  <a:srgbClr val="2D3748"/>
                </a:solidFill>
                <a:latin typeface="Aptos"/>
              </a:rPr>
              <a:t>The generated rule is shown to the user before persistence.
The user can:
• Review the generated rule
• Regenerate if required
• Approve the rule
Only approved rules are stored.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5989320"/>
            <a:ext cx="9555480" cy="438912"/>
          </a:xfrm>
          <a:prstGeom prst="roundRect">
            <a:avLst/>
          </a:prstGeom>
          <a:solidFill>
            <a:srgbClr val="F4EFFF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AI-generated ≠ automatically published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Technology Stack &amp; Production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743200" cy="19659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Frontend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React
Vite
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234440"/>
            <a:ext cx="2743200" cy="196596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Backend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Java
Spring Boot
REST / JPA / Hibernate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9944" y="1234440"/>
            <a:ext cx="2560320" cy="196596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AI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Spring AI
Ollama
Qwen3 8B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234440"/>
            <a:ext cx="2514600" cy="1965960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Database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PostgreSQL
JSONB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20440"/>
            <a:ext cx="5349240" cy="233172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POC Setup</a:t>
            </a:r>
          </a:p>
          <a:p>
            <a:r>
              <a:rPr sz="1600">
                <a:solidFill>
                  <a:srgbClr val="2D3748"/>
                </a:solidFill>
                <a:latin typeface="Aptos"/>
              </a:rPr>
              <a:t>• Qwen3 runs locally through Ollama
• Rule-generation requests do not need to be sent to a public external LLM API during local inference
• POC is optimized for demonstration, not production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20440"/>
            <a:ext cx="5349240" cy="233172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Production Considerations</a:t>
            </a:r>
          </a:p>
          <a:p>
            <a:r>
              <a:rPr sz="1600">
                <a:solidFill>
                  <a:srgbClr val="2D3748"/>
                </a:solidFill>
                <a:latin typeface="Aptos"/>
              </a:rPr>
              <a:t>• Use an approved internal AI platform or self-hosted inference setup
• Review security, data residency, model governance and licensing
• Evaluate latency, concurrency, scalability, monitoring and availability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Demo Flow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65960" cy="1920240"/>
          </a:xfrm>
          <a:prstGeom prst="roundRect">
            <a:avLst/>
          </a:prstGeom>
          <a:solidFill>
            <a:srgbClr val="EBF5FF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05C"/>
                </a:solidFill>
                <a:latin typeface="Aptos"/>
              </a:rPr>
              <a:t>1</a:t>
            </a:r>
          </a:p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Select Context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Business Line / Clientele / Entity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9464" y="2194560"/>
            <a:ext cx="274320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80360" y="1417320"/>
            <a:ext cx="1965960" cy="1920240"/>
          </a:xfrm>
          <a:prstGeom prst="roundRect">
            <a:avLst/>
          </a:prstGeom>
          <a:solidFill>
            <a:srgbClr val="F4EFFF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05C"/>
                </a:solidFill>
                <a:latin typeface="Aptos"/>
              </a:rPr>
              <a:t>2</a:t>
            </a:r>
          </a:p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Create Rule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Enter name + natural-language requirement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55464" y="2194560"/>
            <a:ext cx="274320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66360" y="1417320"/>
            <a:ext cx="1965960" cy="1920240"/>
          </a:xfrm>
          <a:prstGeom prst="roundRect">
            <a:avLst/>
          </a:prstGeom>
          <a:solidFill>
            <a:srgbClr val="EBFAF4"/>
          </a:solidFill>
          <a:ln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05C"/>
                </a:solidFill>
                <a:latin typeface="Aptos"/>
              </a:rPr>
              <a:t>3</a:t>
            </a:r>
          </a:p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Generate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Qwen3 produces the structured rule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41464" y="2194560"/>
            <a:ext cx="274320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417320"/>
            <a:ext cx="1965960" cy="1920240"/>
          </a:xfrm>
          <a:prstGeom prst="roundRect">
            <a:avLst/>
          </a:prstGeom>
          <a:solidFill>
            <a:srgbClr val="FFF7E5"/>
          </a:solidFill>
          <a:ln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05C"/>
                </a:solidFill>
                <a:latin typeface="Aptos"/>
              </a:rPr>
              <a:t>4</a:t>
            </a:r>
          </a:p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Review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Inspect and regenerate if required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27464" y="2194560"/>
            <a:ext cx="274320" cy="292608"/>
          </a:xfrm>
          <a:prstGeom prst="rightArrow">
            <a:avLst/>
          </a:prstGeom>
          <a:solidFill>
            <a:srgbClr val="3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38360" y="1417320"/>
            <a:ext cx="1965960" cy="1920240"/>
          </a:xfrm>
          <a:prstGeom prst="roundRect">
            <a:avLst/>
          </a:prstGeom>
          <a:solidFill>
            <a:srgbClr val="EBF5FF"/>
          </a:solidFill>
          <a:ln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05C"/>
                </a:solidFill>
                <a:latin typeface="Aptos"/>
              </a:rPr>
              <a:t>5</a:t>
            </a:r>
          </a:p>
          <a:p>
            <a:pPr algn="ctr"/>
            <a:r>
              <a:rPr sz="1600" b="1">
                <a:solidFill>
                  <a:srgbClr val="16305C"/>
                </a:solidFill>
                <a:latin typeface="Aptos"/>
              </a:rPr>
              <a:t>Approve</a:t>
            </a:r>
          </a:p>
          <a:p>
            <a:pPr algn="ctr"/>
            <a:r>
              <a:rPr sz="1150">
                <a:solidFill>
                  <a:srgbClr val="2D3748"/>
                </a:solidFill>
                <a:latin typeface="Aptos"/>
              </a:rPr>
              <a:t>Persist approved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10332720" cy="160020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Key Takeaway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The POC extends rule creation beyond simple Primary / Secondary conditions by enabling natural-language creation of complex AND / OR / XOR rules, with validation and human approval before persistence.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